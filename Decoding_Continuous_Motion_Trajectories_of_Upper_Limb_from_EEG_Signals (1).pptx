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6EF57C-2CD2-4663-9FFD-E1EC1A93FFED}" v="2" dt="2026-05-06T06:09:55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laksh Bishnoi" userId="7b0b66d6-3862-4fb7-9f79-4b1a7c621320" providerId="ADAL" clId="{CA8D2CB9-88FB-4276-8A19-AD5F2BFEC0EA}"/>
    <pc:docChg chg="undo custSel delSld modSld">
      <pc:chgData name="Uplaksh Bishnoi" userId="7b0b66d6-3862-4fb7-9f79-4b1a7c621320" providerId="ADAL" clId="{CA8D2CB9-88FB-4276-8A19-AD5F2BFEC0EA}" dt="2026-05-06T06:14:14.299" v="161" actId="20577"/>
      <pc:docMkLst>
        <pc:docMk/>
      </pc:docMkLst>
      <pc:sldChg chg="addSp modSp mod">
        <pc:chgData name="Uplaksh Bishnoi" userId="7b0b66d6-3862-4fb7-9f79-4b1a7c621320" providerId="ADAL" clId="{CA8D2CB9-88FB-4276-8A19-AD5F2BFEC0EA}" dt="2026-05-06T06:14:14.299" v="161" actId="20577"/>
        <pc:sldMkLst>
          <pc:docMk/>
          <pc:sldMk cId="0" sldId="263"/>
        </pc:sldMkLst>
        <pc:spChg chg="mod">
          <ac:chgData name="Uplaksh Bishnoi" userId="7b0b66d6-3862-4fb7-9f79-4b1a7c621320" providerId="ADAL" clId="{CA8D2CB9-88FB-4276-8A19-AD5F2BFEC0EA}" dt="2026-05-06T06:06:32.539" v="24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Uplaksh Bishnoi" userId="7b0b66d6-3862-4fb7-9f79-4b1a7c621320" providerId="ADAL" clId="{CA8D2CB9-88FB-4276-8A19-AD5F2BFEC0EA}" dt="2026-05-06T06:04:43.926" v="3" actId="20577"/>
          <ac:spMkLst>
            <pc:docMk/>
            <pc:sldMk cId="0" sldId="263"/>
            <ac:spMk id="32" creationId="{00000000-0000-0000-0000-000000000000}"/>
          </ac:spMkLst>
        </pc:spChg>
        <pc:spChg chg="mod">
          <ac:chgData name="Uplaksh Bishnoi" userId="7b0b66d6-3862-4fb7-9f79-4b1a7c621320" providerId="ADAL" clId="{CA8D2CB9-88FB-4276-8A19-AD5F2BFEC0EA}" dt="2026-05-06T06:05:40.016" v="6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Uplaksh Bishnoi" userId="7b0b66d6-3862-4fb7-9f79-4b1a7c621320" providerId="ADAL" clId="{CA8D2CB9-88FB-4276-8A19-AD5F2BFEC0EA}" dt="2026-05-06T06:05:46.789" v="10" actId="20577"/>
          <ac:spMkLst>
            <pc:docMk/>
            <pc:sldMk cId="0" sldId="263"/>
            <ac:spMk id="34" creationId="{00000000-0000-0000-0000-000000000000}"/>
          </ac:spMkLst>
        </pc:spChg>
        <pc:spChg chg="mod">
          <ac:chgData name="Uplaksh Bishnoi" userId="7b0b66d6-3862-4fb7-9f79-4b1a7c621320" providerId="ADAL" clId="{CA8D2CB9-88FB-4276-8A19-AD5F2BFEC0EA}" dt="2026-05-06T06:14:14.299" v="161" actId="20577"/>
          <ac:spMkLst>
            <pc:docMk/>
            <pc:sldMk cId="0" sldId="263"/>
            <ac:spMk id="35" creationId="{00000000-0000-0000-0000-000000000000}"/>
          </ac:spMkLst>
        </pc:spChg>
        <pc:spChg chg="add mod">
          <ac:chgData name="Uplaksh Bishnoi" userId="7b0b66d6-3862-4fb7-9f79-4b1a7c621320" providerId="ADAL" clId="{CA8D2CB9-88FB-4276-8A19-AD5F2BFEC0EA}" dt="2026-05-06T06:09:26.233" v="79" actId="1076"/>
          <ac:spMkLst>
            <pc:docMk/>
            <pc:sldMk cId="0" sldId="263"/>
            <ac:spMk id="41" creationId="{BB62400C-194A-A463-0482-DFFF3E4A861B}"/>
          </ac:spMkLst>
        </pc:spChg>
        <pc:spChg chg="add mod">
          <ac:chgData name="Uplaksh Bishnoi" userId="7b0b66d6-3862-4fb7-9f79-4b1a7c621320" providerId="ADAL" clId="{CA8D2CB9-88FB-4276-8A19-AD5F2BFEC0EA}" dt="2026-05-06T06:09:42.073" v="81" actId="14100"/>
          <ac:spMkLst>
            <pc:docMk/>
            <pc:sldMk cId="0" sldId="263"/>
            <ac:spMk id="42" creationId="{C9827E98-FFBF-F3DB-F4A7-2EB31BBB641A}"/>
          </ac:spMkLst>
        </pc:spChg>
        <pc:spChg chg="add mod">
          <ac:chgData name="Uplaksh Bishnoi" userId="7b0b66d6-3862-4fb7-9f79-4b1a7c621320" providerId="ADAL" clId="{CA8D2CB9-88FB-4276-8A19-AD5F2BFEC0EA}" dt="2026-05-06T06:12:49.380" v="141" actId="1076"/>
          <ac:spMkLst>
            <pc:docMk/>
            <pc:sldMk cId="0" sldId="263"/>
            <ac:spMk id="44" creationId="{CA5754E6-E7F9-B4AE-1F7C-D28EDF29B070}"/>
          </ac:spMkLst>
        </pc:spChg>
        <pc:spChg chg="add mod">
          <ac:chgData name="Uplaksh Bishnoi" userId="7b0b66d6-3862-4fb7-9f79-4b1a7c621320" providerId="ADAL" clId="{CA8D2CB9-88FB-4276-8A19-AD5F2BFEC0EA}" dt="2026-05-06T06:12:58.865" v="143" actId="1076"/>
          <ac:spMkLst>
            <pc:docMk/>
            <pc:sldMk cId="0" sldId="263"/>
            <ac:spMk id="46" creationId="{730389D5-7CB0-2F8A-B44C-8154659F1E11}"/>
          </ac:spMkLst>
        </pc:spChg>
        <pc:spChg chg="add mod">
          <ac:chgData name="Uplaksh Bishnoi" userId="7b0b66d6-3862-4fb7-9f79-4b1a7c621320" providerId="ADAL" clId="{CA8D2CB9-88FB-4276-8A19-AD5F2BFEC0EA}" dt="2026-05-06T06:13:23.715" v="154" actId="1037"/>
          <ac:spMkLst>
            <pc:docMk/>
            <pc:sldMk cId="0" sldId="263"/>
            <ac:spMk id="48" creationId="{1016CF4B-5A5C-A0C9-D127-BB0F9DB0FADB}"/>
          </ac:spMkLst>
        </pc:spChg>
        <pc:spChg chg="add mod">
          <ac:chgData name="Uplaksh Bishnoi" userId="7b0b66d6-3862-4fb7-9f79-4b1a7c621320" providerId="ADAL" clId="{CA8D2CB9-88FB-4276-8A19-AD5F2BFEC0EA}" dt="2026-05-06T06:12:54.042" v="142" actId="1076"/>
          <ac:spMkLst>
            <pc:docMk/>
            <pc:sldMk cId="0" sldId="263"/>
            <ac:spMk id="50" creationId="{D2F93A1E-5DCA-13CD-B9EE-A64EFD841CC0}"/>
          </ac:spMkLst>
        </pc:spChg>
        <pc:spChg chg="add mod">
          <ac:chgData name="Uplaksh Bishnoi" userId="7b0b66d6-3862-4fb7-9f79-4b1a7c621320" providerId="ADAL" clId="{CA8D2CB9-88FB-4276-8A19-AD5F2BFEC0EA}" dt="2026-05-06T06:13:01.907" v="144" actId="1076"/>
          <ac:spMkLst>
            <pc:docMk/>
            <pc:sldMk cId="0" sldId="263"/>
            <ac:spMk id="52" creationId="{D292F27F-9516-2BCF-B8CE-B61B342EA5B6}"/>
          </ac:spMkLst>
        </pc:spChg>
        <pc:spChg chg="add mod">
          <ac:chgData name="Uplaksh Bishnoi" userId="7b0b66d6-3862-4fb7-9f79-4b1a7c621320" providerId="ADAL" clId="{CA8D2CB9-88FB-4276-8A19-AD5F2BFEC0EA}" dt="2026-05-06T06:13:26.333" v="159" actId="1037"/>
          <ac:spMkLst>
            <pc:docMk/>
            <pc:sldMk cId="0" sldId="263"/>
            <ac:spMk id="54" creationId="{174A06EC-D9ED-A745-B565-8A5A6198E93E}"/>
          </ac:spMkLst>
        </pc:spChg>
      </pc:sldChg>
      <pc:sldChg chg="del">
        <pc:chgData name="Uplaksh Bishnoi" userId="7b0b66d6-3862-4fb7-9f79-4b1a7c621320" providerId="ADAL" clId="{CA8D2CB9-88FB-4276-8A19-AD5F2BFEC0EA}" dt="2026-05-06T06:07:27.232" v="25" actId="4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92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257049"/>
            <a:ext cx="731520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Decoding Continuous Motion Trajectories of Upper Limb from EEG Signals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914400" y="3092630"/>
            <a:ext cx="73152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 Feature Selection and Nonlinear Methods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2834283" y="3710564"/>
            <a:ext cx="3475434" cy="5214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2834283" y="3656986"/>
            <a:ext cx="3475434" cy="28575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4"/>
          <p:cNvSpPr/>
          <p:nvPr/>
        </p:nvSpPr>
        <p:spPr>
          <a:xfrm>
            <a:off x="3120033" y="3814149"/>
            <a:ext cx="2903934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  <a:t>Group Members</a:t>
            </a:r>
            <a:b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</a:br>
            <a: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  <a:t>1.Uplaksh Bishnoi(2024EE11162)</a:t>
            </a:r>
            <a:b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</a:br>
            <a: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  <a:t>2.Piyush Joshi(2024EE10373)</a:t>
            </a:r>
            <a:b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</a:br>
            <a: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  <a:t>3.Dravya Kunal Mehta(2024EE11099)</a:t>
            </a:r>
            <a:b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</a:br>
            <a: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  <a:t>4.Abhishek Anand(2024EE30209)</a:t>
            </a:r>
            <a:b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</a:br>
            <a: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</a:rPr>
              <a:t>5.Mehak Singh(2024EE30531)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BCI systems restore motor independence through precise 3D hand trajectory reconstruction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23014"/>
            <a:ext cx="32504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71500" y="1851627"/>
            <a:ext cx="3250406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Reconstruct continuous 3D hand trajectories from non-invasive EEG signals to restore independence for patients with severe paralysis.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964781" y="1437289"/>
            <a:ext cx="46077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SIGNIFICANCE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964781" y="1737327"/>
            <a:ext cx="46077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neural activity into motion is critical for enabling patients to regain control through assistive robotic devices, bridging the gap between intent and action.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64781" y="2566002"/>
            <a:ext cx="46077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CHALLENGE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964781" y="2866039"/>
            <a:ext cx="46077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Overcoming the low signal-to-noise ratio inherent in scalp EEG and the complex, non-linear mapping between brain signals and physical kinematics.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TFP framework optimizes decoding through temporal fixation, spatial selection, and nonlinear regression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65518"/>
            <a:ext cx="3429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790583"/>
            <a:ext cx="255269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Time-window Fixation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3042400"/>
            <a:ext cx="25526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 selection of task-related EEG segments (400 samples) to maximize information density and reduce ambient noise.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641" y="2265518"/>
            <a:ext cx="342900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95641" y="2790583"/>
            <a:ext cx="255269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Spatial Feature Selection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295641" y="3042400"/>
            <a:ext cx="25526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PCA-based dimensionality reduction extracts the most relevant neural components from 31 EEG channels, isolating core patterns.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781" y="2265518"/>
            <a:ext cx="342900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19781" y="2790583"/>
            <a:ext cx="255269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Nonlinear Regression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019781" y="3042400"/>
            <a:ext cx="25526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3rd-order polynomial mapping captures complex, non-linear movement dynamics that linear models often fail to represent.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37C8AA4F-2CA0-6691-EC19-123D4FD87459}"/>
              </a:ext>
            </a:extLst>
          </p:cNvPr>
          <p:cNvSpPr/>
          <p:nvPr/>
        </p:nvSpPr>
        <p:spPr>
          <a:xfrm flipV="1">
            <a:off x="598510" y="1258498"/>
            <a:ext cx="484992" cy="4571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8D6402-54B3-A636-C426-F38A74DB6C27}"/>
              </a:ext>
            </a:extLst>
          </p:cNvPr>
          <p:cNvSpPr txBox="1"/>
          <p:nvPr/>
        </p:nvSpPr>
        <p:spPr>
          <a:xfrm>
            <a:off x="479512" y="645090"/>
            <a:ext cx="3198376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50" b="1" dirty="0">
                <a:latin typeface="Playfair Display SemiBold"/>
              </a:rPr>
              <a:t>Decoding Pipeline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65E76-0DFB-4A90-64F4-1E38FCD4B27E}"/>
              </a:ext>
            </a:extLst>
          </p:cNvPr>
          <p:cNvSpPr txBox="1"/>
          <p:nvPr/>
        </p:nvSpPr>
        <p:spPr>
          <a:xfrm>
            <a:off x="814192" y="1709803"/>
            <a:ext cx="2173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" panose="00000500000000000000" pitchFamily="2" charset="0"/>
              </a:rPr>
              <a:t> </a:t>
            </a: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</a:rPr>
              <a:t>Pre Processing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B24954-C17A-F3B9-1926-94FB9BCFE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06" y="1830836"/>
            <a:ext cx="228600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0F8B66-0483-CB0E-A137-941EC4939556}"/>
              </a:ext>
            </a:extLst>
          </p:cNvPr>
          <p:cNvSpPr txBox="1"/>
          <p:nvPr/>
        </p:nvSpPr>
        <p:spPr>
          <a:xfrm>
            <a:off x="870563" y="2079414"/>
            <a:ext cx="34258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0.1–40 Hz Butterworth Band-pass</a:t>
            </a:r>
            <a:endParaRPr lang="en-IN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6219AA-CC22-06CE-760F-D327540537A2}"/>
              </a:ext>
            </a:extLst>
          </p:cNvPr>
          <p:cNvSpPr txBox="1"/>
          <p:nvPr/>
        </p:nvSpPr>
        <p:spPr>
          <a:xfrm>
            <a:off x="864300" y="2233043"/>
            <a:ext cx="34258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 err="1">
                <a:solidFill>
                  <a:srgbClr val="CBD5E1"/>
                </a:solidFill>
                <a:effectLst/>
                <a:latin typeface="Inter"/>
              </a:rPr>
              <a:t>FastICA</a:t>
            </a:r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 for EOG/EMG rejection</a:t>
            </a:r>
            <a:endParaRPr lang="en-IN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3D9ABC-2190-A015-34B2-AE17A20745AD}"/>
              </a:ext>
            </a:extLst>
          </p:cNvPr>
          <p:cNvSpPr txBox="1"/>
          <p:nvPr/>
        </p:nvSpPr>
        <p:spPr>
          <a:xfrm>
            <a:off x="864299" y="2387469"/>
            <a:ext cx="34321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Resampling to 256 Hz</a:t>
            </a:r>
            <a:endParaRPr lang="en-IN" sz="10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5E1C3D4-F64C-D139-EE16-B7E2FCAD7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92" y="3074540"/>
            <a:ext cx="266700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351E3A0-7DD6-41FE-A547-1B0A02644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163" y="1830836"/>
            <a:ext cx="228600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1694B196-8AE3-F76F-7BA7-C7D6E6427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638" y="3074539"/>
            <a:ext cx="238125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1D339F-4416-09A1-E4DC-72DEE86C6624}"/>
              </a:ext>
            </a:extLst>
          </p:cNvPr>
          <p:cNvSpPr txBox="1"/>
          <p:nvPr/>
        </p:nvSpPr>
        <p:spPr>
          <a:xfrm>
            <a:off x="870563" y="3518024"/>
            <a:ext cx="308766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000" b="0" i="0" u="none" strike="noStrike">
                <a:solidFill>
                  <a:srgbClr val="CBD5E1"/>
                </a:solidFill>
                <a:effectLst/>
                <a:latin typeface="Inter"/>
              </a:rPr>
              <a:t>Global normalization (-1 to 1)</a:t>
            </a:r>
            <a:endParaRPr lang="en-US" sz="1000" b="0">
              <a:effectLst/>
            </a:endParaRPr>
          </a:p>
          <a:p>
            <a:pPr>
              <a:buNone/>
            </a:pPr>
            <a:br>
              <a:rPr lang="en-US"/>
            </a:b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6E1E9F-C27E-B496-C9E4-F3D38715DC8E}"/>
              </a:ext>
            </a:extLst>
          </p:cNvPr>
          <p:cNvSpPr txBox="1"/>
          <p:nvPr/>
        </p:nvSpPr>
        <p:spPr>
          <a:xfrm>
            <a:off x="884587" y="3667946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PCA on 31-channel input</a:t>
            </a:r>
            <a:endParaRPr lang="en-IN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99CA7-32DA-F1C8-D06A-1992383E02A2}"/>
              </a:ext>
            </a:extLst>
          </p:cNvPr>
          <p:cNvSpPr txBox="1"/>
          <p:nvPr/>
        </p:nvSpPr>
        <p:spPr>
          <a:xfrm>
            <a:off x="870563" y="3821575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Threshold: 90% Variance</a:t>
            </a:r>
            <a:endParaRPr lang="en-IN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81D7B0-C3B5-7103-08D7-0A8B1C2733D7}"/>
              </a:ext>
            </a:extLst>
          </p:cNvPr>
          <p:cNvSpPr txBox="1"/>
          <p:nvPr/>
        </p:nvSpPr>
        <p:spPr>
          <a:xfrm>
            <a:off x="5229617" y="2086861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3rd Order Poly expansion</a:t>
            </a:r>
            <a:endParaRPr lang="en-IN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888A83-32A7-9056-4FD4-CD30CD545F0A}"/>
              </a:ext>
            </a:extLst>
          </p:cNvPr>
          <p:cNvSpPr txBox="1"/>
          <p:nvPr/>
        </p:nvSpPr>
        <p:spPr>
          <a:xfrm>
            <a:off x="5235880" y="2240490"/>
            <a:ext cx="4900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Ridge Regression (</a:t>
            </a:r>
            <a:r>
              <a:rPr lang="el-GR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α=10)</a:t>
            </a:r>
            <a:endParaRPr lang="en-IN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A12F07-8A10-BD3C-E192-D6403B3FF5B3}"/>
              </a:ext>
            </a:extLst>
          </p:cNvPr>
          <p:cNvSpPr txBox="1"/>
          <p:nvPr/>
        </p:nvSpPr>
        <p:spPr>
          <a:xfrm>
            <a:off x="5235880" y="2382118"/>
            <a:ext cx="50678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Prevents matrix overfitting</a:t>
            </a:r>
            <a:endParaRPr lang="en-IN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6435F2-9C80-19A4-8FE3-A344496E2BDF}"/>
              </a:ext>
            </a:extLst>
          </p:cNvPr>
          <p:cNvSpPr txBox="1"/>
          <p:nvPr/>
        </p:nvSpPr>
        <p:spPr>
          <a:xfrm>
            <a:off x="5235880" y="3520824"/>
            <a:ext cx="51515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Trial-wise coefficient logging</a:t>
            </a:r>
            <a:endParaRPr lang="en-IN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5F0647-AAF7-8894-A656-441986D6CE9C}"/>
              </a:ext>
            </a:extLst>
          </p:cNvPr>
          <p:cNvSpPr txBox="1"/>
          <p:nvPr/>
        </p:nvSpPr>
        <p:spPr>
          <a:xfrm>
            <a:off x="5214952" y="3667946"/>
            <a:ext cx="519340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Average Top 50% coefficients</a:t>
            </a:r>
            <a:endParaRPr lang="en-IN" sz="1000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613E78-FF7D-5BD2-4D79-7B7599E01731}"/>
              </a:ext>
            </a:extLst>
          </p:cNvPr>
          <p:cNvSpPr txBox="1"/>
          <p:nvPr/>
        </p:nvSpPr>
        <p:spPr>
          <a:xfrm>
            <a:off x="5214952" y="3839475"/>
            <a:ext cx="52127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u="none" strike="noStrike" dirty="0">
                <a:solidFill>
                  <a:srgbClr val="CBD5E1"/>
                </a:solidFill>
                <a:effectLst/>
                <a:latin typeface="Inter"/>
              </a:rPr>
              <a:t>Noise-resistant trajectory</a:t>
            </a:r>
            <a:endParaRPr lang="en-IN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7AFBCB-ECA7-AB3E-8A08-FAF01962C29C}"/>
              </a:ext>
            </a:extLst>
          </p:cNvPr>
          <p:cNvSpPr txBox="1"/>
          <p:nvPr/>
        </p:nvSpPr>
        <p:spPr>
          <a:xfrm>
            <a:off x="804766" y="2929196"/>
            <a:ext cx="5212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dirty="0">
                <a:solidFill>
                  <a:srgbClr val="38BDF8"/>
                </a:solidFill>
                <a:effectLst/>
                <a:latin typeface="Urbanist"/>
              </a:rPr>
              <a:t> </a:t>
            </a:r>
            <a:r>
              <a:rPr lang="en-IN" sz="140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tserrat" panose="00000500000000000000" pitchFamily="2" charset="0"/>
              </a:rPr>
              <a:t>Feature Selection</a:t>
            </a: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B256DA-079F-2CC5-B10F-4D67585D419A}"/>
              </a:ext>
            </a:extLst>
          </p:cNvPr>
          <p:cNvSpPr txBox="1"/>
          <p:nvPr/>
        </p:nvSpPr>
        <p:spPr>
          <a:xfrm>
            <a:off x="5229617" y="1719965"/>
            <a:ext cx="5212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tserrat" panose="00000500000000000000" pitchFamily="2" charset="0"/>
              </a:rPr>
              <a:t>Nonlinear Model</a:t>
            </a: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85F43D-997D-ED3D-5846-20BB1CD49080}"/>
              </a:ext>
            </a:extLst>
          </p:cNvPr>
          <p:cNvSpPr txBox="1"/>
          <p:nvPr/>
        </p:nvSpPr>
        <p:spPr>
          <a:xfrm>
            <a:off x="5224788" y="2985530"/>
            <a:ext cx="5222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tserrat" panose="00000500000000000000" pitchFamily="2" charset="0"/>
              </a:rPr>
              <a:t>TFP Stability</a:t>
            </a: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53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 robust preprocessing pipeline ensures high data integrity and effective signal cleaning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800476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1550" y="1750470"/>
            <a:ext cx="1228725" cy="233958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 Cleaning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971550" y="2041578"/>
            <a:ext cx="35290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4th-order Butterworth band-pass (0.1–40 Hz) and ICA remove EOG/EMG artifacts.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1800476"/>
            <a:ext cx="2857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43488" y="1750470"/>
            <a:ext cx="1250156" cy="233958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Standardization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043488" y="2041578"/>
            <a:ext cx="35290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 is standardized; kinematics normalized to [-1, 1] for consistent scaling.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3" y="2620221"/>
            <a:ext cx="200025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50" y="2570215"/>
            <a:ext cx="1621631" cy="233958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Alignment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971550" y="2861323"/>
            <a:ext cx="35290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Resampled to 256 Hz with a focused 1.56s window per trial to align features.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013" y="2620221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43488" y="2570215"/>
            <a:ext cx="1080492" cy="233958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Integrity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5043488" y="2861323"/>
            <a:ext cx="35290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handled by linear interpolation and run-wise quality checks.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PCA-driven dimensionality reduction preserves 90% of variance while optimizing computation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1736182"/>
            <a:ext cx="3957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SPATIAL FILTERING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8650" y="1921920"/>
            <a:ext cx="3957638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on 31 channels isolates key neural components and removes redundancy.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28650" y="2481979"/>
            <a:ext cx="3957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SELECTION CRITERION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8650" y="2667716"/>
            <a:ext cx="3957638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050" dirty="0">
                <a:solidFill>
                  <a:srgbClr val="38B2AC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90%</a:t>
            </a:r>
            <a:endParaRPr lang="en-US" sz="3050" dirty="0"/>
          </a:p>
        </p:txBody>
      </p:sp>
      <p:sp>
        <p:nvSpPr>
          <p:cNvPr id="8" name="Text 5"/>
          <p:cNvSpPr/>
          <p:nvPr/>
        </p:nvSpPr>
        <p:spPr>
          <a:xfrm>
            <a:off x="628650" y="3228501"/>
            <a:ext cx="3957638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Components selected to capture 90% cumulative variance.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72013" y="1650457"/>
            <a:ext cx="3957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 EFFICIENCY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72013" y="1836195"/>
            <a:ext cx="3957638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050" dirty="0">
                <a:solidFill>
                  <a:srgbClr val="38B2AC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74.76%</a:t>
            </a:r>
            <a:endParaRPr lang="en-US" sz="3050" dirty="0"/>
          </a:p>
        </p:txBody>
      </p:sp>
      <p:sp>
        <p:nvSpPr>
          <p:cNvPr id="11" name="Text 8"/>
          <p:cNvSpPr/>
          <p:nvPr/>
        </p:nvSpPr>
        <p:spPr>
          <a:xfrm>
            <a:off x="4672013" y="2396979"/>
            <a:ext cx="3957638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reduces computation time substantially while retaining accuracy.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672013" y="2957038"/>
            <a:ext cx="3957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PRESERVATION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72013" y="3142776"/>
            <a:ext cx="3957638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spatial features crucial for upper-limb decoding.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3rd-order polynomial regression captures the non-linear complexity of human motion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85775" y="1721895"/>
            <a:ext cx="40576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ARCHITECTURE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85775" y="1907632"/>
            <a:ext cx="4057650" cy="68007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85775" y="1907632"/>
            <a:ext cx="4057650" cy="28575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164807"/>
            <a:ext cx="388620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y(x) = a₀ + Σ bᵢxᵢ + Σ cᵢⱼxᵢxⱼ + Σ dᵢⱼₖxᵢxⱼxₖ + ε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8650" y="2787737"/>
            <a:ext cx="3914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Non-linear Mapping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Models complex relationships between neural activity and 3D coordinates.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8650" y="3559262"/>
            <a:ext cx="3914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Higher-order Features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Captures interaction terms between neural components for improved decoding.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14875" y="1721895"/>
            <a:ext cx="40576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&amp; REGULARIZATION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57750" y="2050507"/>
            <a:ext cx="3914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Regression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Uses L2 regularization (alpha=10) for stability in high-dimensional spaces.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57750" y="2822032"/>
            <a:ext cx="39147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Class-Specific Optimization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Separate models are optimized for 6 movement classes and 3 spatial dimensions.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57750" y="3807870"/>
            <a:ext cx="3914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TFP Basis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Provides a robust foundation for translating neural features into motion trajectories.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Automated 5-fold cross-validation ensures model stability and generalizability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2221957"/>
            <a:ext cx="45481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 VALIDATION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8650" y="2536282"/>
            <a:ext cx="4548169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of </a:t>
            </a:r>
            <a:r>
              <a:rPr lang="en-US" sz="11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5-fold Cross-Validation</a:t>
            </a:r>
            <a:r>
              <a:rPr lang="en-US" sz="11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provides a reliable and unbiased estimate of decoding performance across 15 subjects, ensuring results are not dependent on specific data partitions.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28650" y="3827850"/>
            <a:ext cx="45481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PIPELINE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8650" y="4113600"/>
            <a:ext cx="45481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processing script handles subject-wise analysis, seamlessly integrating preprocessing, PCA, and regression stages for consistent and reproducible results.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62569" y="2021932"/>
            <a:ext cx="31670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STABILITY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62569" y="2336257"/>
            <a:ext cx="3167081" cy="125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coefficients are averaged using the </a:t>
            </a:r>
            <a:r>
              <a:rPr lang="en-US" sz="11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50% largest values</a:t>
            </a:r>
            <a:r>
              <a:rPr lang="en-US" sz="11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(TFP method) to create representative, noise-resistant models that capture core movement patterns.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62569" y="3879279"/>
            <a:ext cx="31670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GENERALIZABILITY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62569" y="4165029"/>
            <a:ext cx="31670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structured approach ensures that the decoding models are robust against trial-to-trial noise and generalizable to unseen motor execution data.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001000" cy="72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TFP method achieves superior quantitative performance with an average PCC of 0.42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1950495"/>
            <a:ext cx="523874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COMPARISON (PCC)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28650" y="2250532"/>
            <a:ext cx="1740619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628650" y="2534496"/>
            <a:ext cx="1740619" cy="21431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7" name="Text 4"/>
          <p:cNvSpPr/>
          <p:nvPr/>
        </p:nvSpPr>
        <p:spPr>
          <a:xfrm>
            <a:off x="628650" y="2250532"/>
            <a:ext cx="1740619" cy="305395"/>
          </a:xfrm>
          <a:prstGeom prst="rect">
            <a:avLst/>
          </a:prstGeom>
          <a:noFill/>
          <a:ln/>
        </p:spPr>
        <p:txBody>
          <a:bodyPr wrap="squar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69269" y="2250532"/>
            <a:ext cx="884765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2369269" y="2534496"/>
            <a:ext cx="884765" cy="21431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0" name="Text 7"/>
          <p:cNvSpPr/>
          <p:nvPr/>
        </p:nvSpPr>
        <p:spPr>
          <a:xfrm>
            <a:off x="2369269" y="2250532"/>
            <a:ext cx="884765" cy="305395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X-Axis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54034" y="2250532"/>
            <a:ext cx="879937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3254034" y="2534496"/>
            <a:ext cx="879937" cy="21431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3" name="Text 10"/>
          <p:cNvSpPr/>
          <p:nvPr/>
        </p:nvSpPr>
        <p:spPr>
          <a:xfrm>
            <a:off x="3254034" y="2250532"/>
            <a:ext cx="879937" cy="305395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Y-Axis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33971" y="2250532"/>
            <a:ext cx="884765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133971" y="2534496"/>
            <a:ext cx="884765" cy="21431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6" name="Text 13"/>
          <p:cNvSpPr/>
          <p:nvPr/>
        </p:nvSpPr>
        <p:spPr>
          <a:xfrm>
            <a:off x="4133971" y="2250532"/>
            <a:ext cx="884765" cy="305395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Z-Axis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18736" y="2250532"/>
            <a:ext cx="848655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5018736" y="2534496"/>
            <a:ext cx="848655" cy="21431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9" name="Text 16"/>
          <p:cNvSpPr/>
          <p:nvPr/>
        </p:nvSpPr>
        <p:spPr>
          <a:xfrm>
            <a:off x="5018736" y="2250532"/>
            <a:ext cx="848655" cy="305395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8650" y="2545212"/>
            <a:ext cx="1740619" cy="298252"/>
          </a:xfrm>
          <a:prstGeom prst="rect">
            <a:avLst/>
          </a:prstGeom>
          <a:noFill/>
          <a:ln/>
        </p:spPr>
        <p:txBody>
          <a:bodyPr wrap="squar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MLR (Linear)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369269" y="2545212"/>
            <a:ext cx="884765" cy="298252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0.153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254034" y="2545212"/>
            <a:ext cx="879937" cy="298252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0.143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133971" y="2545212"/>
            <a:ext cx="884765" cy="298252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0.146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18736" y="2545212"/>
            <a:ext cx="848655" cy="298252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0.147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8650" y="2843464"/>
            <a:ext cx="1740619" cy="301823"/>
          </a:xfrm>
          <a:prstGeom prst="rect">
            <a:avLst/>
          </a:prstGeom>
          <a:noFill/>
          <a:ln/>
        </p:spPr>
        <p:txBody>
          <a:bodyPr wrap="squar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(RR)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369269" y="2843464"/>
            <a:ext cx="884765" cy="301823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0.118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254034" y="2843464"/>
            <a:ext cx="879937" cy="301823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0.113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133971" y="2843464"/>
            <a:ext cx="884765" cy="301823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0.116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18736" y="2843464"/>
            <a:ext cx="848655" cy="301823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0.115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8650" y="3145287"/>
            <a:ext cx="5238741" cy="301823"/>
          </a:xfrm>
          <a:prstGeom prst="rect">
            <a:avLst/>
          </a:prstGeom>
          <a:solidFill>
            <a:srgbClr val="38B2AC">
              <a:alpha val="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28650" y="3145287"/>
            <a:ext cx="1740619" cy="301823"/>
          </a:xfrm>
          <a:prstGeom prst="rect">
            <a:avLst/>
          </a:prstGeom>
          <a:noFill/>
          <a:ln/>
        </p:spPr>
        <p:txBody>
          <a:bodyPr wrap="squar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TFP (Proposed)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369269" y="3146285"/>
            <a:ext cx="503921" cy="299826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0.36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254034" y="3145287"/>
            <a:ext cx="879937" cy="301823"/>
          </a:xfrm>
          <a:prstGeom prst="rect">
            <a:avLst/>
          </a:prstGeom>
          <a:noFill/>
          <a:ln/>
        </p:spPr>
        <p:txBody>
          <a:bodyPr wrap="squar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133971" y="3146285"/>
            <a:ext cx="438197" cy="299826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18736" y="3146285"/>
            <a:ext cx="503921" cy="299826"/>
          </a:xfrm>
          <a:prstGeom prst="rect">
            <a:avLst/>
          </a:prstGeom>
          <a:noFill/>
          <a:ln/>
        </p:spPr>
        <p:txBody>
          <a:bodyPr wrap="none" lIns="136017" tIns="136017" rIns="136017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53141" y="2150520"/>
            <a:ext cx="247650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Improvement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153141" y="2416625"/>
            <a:ext cx="247650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TFP demonstrates a 236% to 253% improvement in correlation over traditional linear methods.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53141" y="3166718"/>
            <a:ext cx="247650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Decoding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153141" y="3432823"/>
            <a:ext cx="247650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performance across all three spatial dimensions (X, Y, Z) confirms robust 3D reconstruction.</a:t>
            </a:r>
            <a:endParaRPr lang="en-US" sz="9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62400C-194A-A463-0482-DFFF3E4A861B}"/>
              </a:ext>
            </a:extLst>
          </p:cNvPr>
          <p:cNvSpPr txBox="1"/>
          <p:nvPr/>
        </p:nvSpPr>
        <p:spPr>
          <a:xfrm>
            <a:off x="657468" y="3462791"/>
            <a:ext cx="15703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14</a:t>
            </a:r>
            <a:r>
              <a:rPr lang="en-US" sz="1050" baseline="30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05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15</a:t>
            </a:r>
            <a:r>
              <a:rPr lang="en-US" sz="1050" baseline="30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05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 results</a:t>
            </a:r>
            <a:endParaRPr lang="en-US" sz="1050" dirty="0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C9827E98-FFBF-F3DB-F4A7-2EB31BBB641A}"/>
              </a:ext>
            </a:extLst>
          </p:cNvPr>
          <p:cNvSpPr/>
          <p:nvPr/>
        </p:nvSpPr>
        <p:spPr>
          <a:xfrm>
            <a:off x="634663" y="3432823"/>
            <a:ext cx="5238741" cy="578644"/>
          </a:xfrm>
          <a:prstGeom prst="rect">
            <a:avLst/>
          </a:prstGeom>
          <a:solidFill>
            <a:srgbClr val="38B2AC">
              <a:alpha val="5000"/>
            </a:srgbClr>
          </a:solidFill>
          <a:ln/>
        </p:spPr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5754E6-E7F9-B4AE-1F7C-D28EDF29B070}"/>
              </a:ext>
            </a:extLst>
          </p:cNvPr>
          <p:cNvSpPr txBox="1"/>
          <p:nvPr/>
        </p:nvSpPr>
        <p:spPr>
          <a:xfrm>
            <a:off x="2392074" y="3434876"/>
            <a:ext cx="45782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0.774</a:t>
            </a:r>
            <a:endParaRPr 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0389D5-7CB0-2F8A-B44C-8154659F1E11}"/>
              </a:ext>
            </a:extLst>
          </p:cNvPr>
          <p:cNvSpPr txBox="1"/>
          <p:nvPr/>
        </p:nvSpPr>
        <p:spPr>
          <a:xfrm>
            <a:off x="3276839" y="3434876"/>
            <a:ext cx="45782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0.919</a:t>
            </a:r>
            <a:endParaRPr lang="en-US" sz="1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16CF4B-5A5C-A0C9-D127-BB0F9DB0FADB}"/>
              </a:ext>
            </a:extLst>
          </p:cNvPr>
          <p:cNvSpPr txBox="1"/>
          <p:nvPr/>
        </p:nvSpPr>
        <p:spPr>
          <a:xfrm>
            <a:off x="4176306" y="3447847"/>
            <a:ext cx="45782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0.788</a:t>
            </a:r>
            <a:endParaRPr lang="en-US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F93A1E-5DCA-13CD-B9EE-A64EFD841CC0}"/>
              </a:ext>
            </a:extLst>
          </p:cNvPr>
          <p:cNvSpPr txBox="1"/>
          <p:nvPr/>
        </p:nvSpPr>
        <p:spPr>
          <a:xfrm>
            <a:off x="2414879" y="3636019"/>
            <a:ext cx="45782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0.859</a:t>
            </a:r>
            <a:endParaRPr lang="en-US" sz="1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92F27F-9516-2BCF-B8CE-B61B342EA5B6}"/>
              </a:ext>
            </a:extLst>
          </p:cNvPr>
          <p:cNvSpPr txBox="1"/>
          <p:nvPr/>
        </p:nvSpPr>
        <p:spPr>
          <a:xfrm>
            <a:off x="3283520" y="3646380"/>
            <a:ext cx="45782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0.975</a:t>
            </a:r>
            <a:endParaRPr lang="en-US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4A06EC-D9ED-A745-B565-8A5A6198E93E}"/>
              </a:ext>
            </a:extLst>
          </p:cNvPr>
          <p:cNvSpPr txBox="1"/>
          <p:nvPr/>
        </p:nvSpPr>
        <p:spPr>
          <a:xfrm>
            <a:off x="4177812" y="3648116"/>
            <a:ext cx="45782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EF3676-39AD-1A5E-20AE-B62468163111}"/>
              </a:ext>
            </a:extLst>
          </p:cNvPr>
          <p:cNvSpPr txBox="1"/>
          <p:nvPr/>
        </p:nvSpPr>
        <p:spPr>
          <a:xfrm>
            <a:off x="272934" y="933722"/>
            <a:ext cx="4572000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50" b="1" i="0" u="none" strike="noStrike" dirty="0">
                <a:effectLst/>
                <a:latin typeface="Playfair Display SemiBold"/>
              </a:rPr>
              <a:t>Strategic Conclusions</a:t>
            </a:r>
            <a:endParaRPr lang="en-IN" sz="2450" dirty="0">
              <a:latin typeface="Playfair Display SemiBold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14F015-81F5-E491-7B7C-1DC563738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82" y="1641866"/>
            <a:ext cx="240783" cy="246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C270334-E3BE-50A7-3D1F-D7630B29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366" y="1633039"/>
            <a:ext cx="240784" cy="24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6460BED-BE13-EC63-9C70-BD54D486F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409" y="1641866"/>
            <a:ext cx="240019" cy="24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8505F5F-DDC8-07A3-5639-35F1B34E0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46" y="2086451"/>
            <a:ext cx="2174252" cy="199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3A2ADC14-2AE6-3659-BE14-9B3A66831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698" y="2086451"/>
            <a:ext cx="2174252" cy="199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DFD88834-2527-89E3-84B5-99C453B1F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409" y="2086451"/>
            <a:ext cx="2174252" cy="199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BB1841-521B-26CB-765F-1454DE1B9B2F}"/>
              </a:ext>
            </a:extLst>
          </p:cNvPr>
          <p:cNvSpPr txBox="1"/>
          <p:nvPr/>
        </p:nvSpPr>
        <p:spPr>
          <a:xfrm>
            <a:off x="384682" y="21470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dirty="0">
                <a:solidFill>
                  <a:srgbClr val="38BDF8"/>
                </a:solidFill>
                <a:effectLst/>
                <a:latin typeface="Urbanist"/>
              </a:rPr>
              <a:t>Key Insights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281E5-B67F-E9E4-97EC-0652D4B55B74}"/>
              </a:ext>
            </a:extLst>
          </p:cNvPr>
          <p:cNvSpPr txBox="1"/>
          <p:nvPr/>
        </p:nvSpPr>
        <p:spPr>
          <a:xfrm>
            <a:off x="3590758" y="220929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dirty="0">
                <a:solidFill>
                  <a:srgbClr val="38BDF8"/>
                </a:solidFill>
                <a:effectLst/>
                <a:latin typeface="Urbanist"/>
              </a:rPr>
              <a:t>Technical Efficiency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C56BB-FF53-1052-74B9-1138A40C315F}"/>
              </a:ext>
            </a:extLst>
          </p:cNvPr>
          <p:cNvSpPr txBox="1"/>
          <p:nvPr/>
        </p:nvSpPr>
        <p:spPr>
          <a:xfrm>
            <a:off x="6656409" y="21499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dirty="0">
                <a:solidFill>
                  <a:srgbClr val="38BDF8"/>
                </a:solidFill>
                <a:effectLst/>
                <a:latin typeface="Urbanist"/>
              </a:rPr>
              <a:t>Future Vision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37C85-0034-BFEA-3DAB-F787FA1809BB}"/>
              </a:ext>
            </a:extLst>
          </p:cNvPr>
          <p:cNvSpPr txBox="1"/>
          <p:nvPr/>
        </p:nvSpPr>
        <p:spPr>
          <a:xfrm>
            <a:off x="401046" y="2430851"/>
            <a:ext cx="1930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effectLst/>
                <a:latin typeface="Inter"/>
              </a:rPr>
              <a:t>Nonlinear polynomial mapping effectively bridges the gap between low-delta EEG and complex kinematics, outperforming linear MLR by ~250%.</a:t>
            </a:r>
            <a:endParaRPr lang="en-IN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3FADCC-F129-5A54-55C9-09A60829C484}"/>
              </a:ext>
            </a:extLst>
          </p:cNvPr>
          <p:cNvSpPr txBox="1"/>
          <p:nvPr/>
        </p:nvSpPr>
        <p:spPr>
          <a:xfrm>
            <a:off x="3597423" y="2473620"/>
            <a:ext cx="19491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effectLst/>
                <a:latin typeface="Inter"/>
              </a:rPr>
              <a:t>PCA feature selection isolates critical neural components, reducing redundancy by 74% while maintaining 90% of signal variance.</a:t>
            </a:r>
            <a:endParaRPr lang="en-IN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6EA3D5-9675-75EA-3BEC-6597A0D099BC}"/>
              </a:ext>
            </a:extLst>
          </p:cNvPr>
          <p:cNvSpPr txBox="1"/>
          <p:nvPr/>
        </p:nvSpPr>
        <p:spPr>
          <a:xfrm>
            <a:off x="6776419" y="2455174"/>
            <a:ext cx="17421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effectLst/>
                <a:latin typeface="Inter"/>
              </a:rPr>
              <a:t>Scaling to real-time robotic limb control and exploring LSTM architectures to model the temporal dependencies of human motion.</a:t>
            </a:r>
            <a:endParaRPr lang="en-IN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0642DE-FB45-7384-AC97-A18404C636D9}"/>
              </a:ext>
            </a:extLst>
          </p:cNvPr>
          <p:cNvSpPr txBox="1"/>
          <p:nvPr/>
        </p:nvSpPr>
        <p:spPr>
          <a:xfrm>
            <a:off x="1764406" y="4453730"/>
            <a:ext cx="5615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  <a:buNone/>
            </a:pPr>
            <a:r>
              <a:rPr lang="en-IN" sz="2800" b="1" i="0" dirty="0">
                <a:effectLst/>
                <a:latin typeface="Urbanist"/>
              </a:rPr>
              <a:t>Thank You!</a:t>
            </a:r>
          </a:p>
        </p:txBody>
      </p:sp>
    </p:spTree>
    <p:extLst>
      <p:ext uri="{BB962C8B-B14F-4D97-AF65-F5344CB8AC3E}">
        <p14:creationId xmlns:p14="http://schemas.microsoft.com/office/powerpoint/2010/main" val="1121607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824</Words>
  <Application>Microsoft Office PowerPoint</Application>
  <PresentationFormat>On-screen Show (16:9)</PresentationFormat>
  <Paragraphs>123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Inter</vt:lpstr>
      <vt:lpstr>Montserrat</vt:lpstr>
      <vt:lpstr>Playfair Display SemiBold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Uplaksh Bishnoi</cp:lastModifiedBy>
  <cp:revision>3</cp:revision>
  <dcterms:created xsi:type="dcterms:W3CDTF">2026-05-06T04:57:41Z</dcterms:created>
  <dcterms:modified xsi:type="dcterms:W3CDTF">2026-05-06T06:14:23Z</dcterms:modified>
</cp:coreProperties>
</file>